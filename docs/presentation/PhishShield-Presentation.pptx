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0A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5303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and Explainable</a:t>
            </a:r>
            <a:endParaRPr lang="en-US" sz="2900" dirty="0"/>
          </a:p>
          <a:p>
            <a:pPr algn="l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Phishing Email Triage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C8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Deterministic Analysis and Experimental AI Assistance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52852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Nieto Alaber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5632704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A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Máster en Desarrollo con IA · Big School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ABB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46520" y="196596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7510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.eml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26680" y="2011680"/>
            <a:ext cx="594360" cy="310896"/>
          </a:xfrm>
          <a:prstGeom prst="chevron">
            <a:avLst/>
          </a:prstGeom>
          <a:solidFill>
            <a:srgbClr val="7189C8"/>
          </a:solidFill>
          <a:ln w="12700">
            <a:solidFill>
              <a:srgbClr val="7189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49640" y="19659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49640" y="19751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95560" y="2011680"/>
            <a:ext cx="594360" cy="310896"/>
          </a:xfrm>
          <a:prstGeom prst="chevron">
            <a:avLst/>
          </a:prstGeom>
          <a:solidFill>
            <a:srgbClr val="7189C8"/>
          </a:solidFill>
          <a:ln w="12700">
            <a:solidFill>
              <a:srgbClr val="7189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018520" y="1965960"/>
            <a:ext cx="685800" cy="347472"/>
          </a:xfrm>
          <a:prstGeom prst="roundRect">
            <a:avLst>
              <a:gd name="adj" fmla="val 21053"/>
            </a:avLst>
          </a:prstGeom>
          <a:solidFill>
            <a:srgbClr val="D94343"/>
          </a:solidFill>
          <a:ln w="12700">
            <a:solidFill>
              <a:srgbClr val="D943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18520" y="197510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88036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5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· local · explainable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3703320"/>
            <a:ext cx="4983480" cy="0"/>
          </a:xfrm>
          <a:prstGeom prst="line">
            <a:avLst/>
          </a:prstGeom>
          <a:noFill/>
          <a:ln w="12700">
            <a:solidFill>
              <a:srgbClr val="3442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04164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practical security workflow with a responsible path toward AI assistance.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Reported Email Needs A Safe First Look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60020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00200"/>
            <a:ext cx="64008" cy="2057400"/>
          </a:xfrm>
          <a:prstGeom prst="rect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.eml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86968" y="2130552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forward suspicious messages for review. The original message may contain URLs, attachments, and sensitive context.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60020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600200"/>
            <a:ext cx="64008" cy="2057400"/>
          </a:xfrm>
          <a:prstGeom prst="rect">
            <a:avLst/>
          </a:prstGeom>
          <a:solidFill>
            <a:srgbClr val="D94343"/>
          </a:solidFill>
          <a:ln w="12700">
            <a:solidFill>
              <a:srgbClr val="D943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first inspection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6008" y="2130552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 message in a normal mail client can expose the analyst to the very content they need to investigate.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3880" y="1600200"/>
            <a:ext cx="33375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600200"/>
            <a:ext cx="64008" cy="2057400"/>
          </a:xfrm>
          <a:prstGeom prst="rect">
            <a:avLst/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85048" y="1783080"/>
            <a:ext cx="2953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before escalation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5048" y="2130552"/>
            <a:ext cx="29535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help-desk or SOC analyst needs a repeatable first assessment, not an opaque verdict.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041648" y="2468880"/>
            <a:ext cx="274320" cy="310896"/>
          </a:xfrm>
          <a:prstGeom prst="chevron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90688" y="2468880"/>
            <a:ext cx="274320" cy="310896"/>
          </a:xfrm>
          <a:prstGeom prst="chevron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3120" y="4434840"/>
            <a:ext cx="8001000" cy="914400"/>
          </a:xfrm>
          <a:prstGeom prst="roundRect">
            <a:avLst>
              <a:gd name="adj" fmla="val 12000"/>
            </a:avLst>
          </a:prstGeom>
          <a:solidFill>
            <a:srgbClr val="EAF1FF"/>
          </a:solidFill>
          <a:ln w="12700">
            <a:solidFill>
              <a:srgbClr val="BFD3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4663440"/>
            <a:ext cx="7543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triage step should be safe, local, and explainable.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Triage For Analysts And Help-Desk Teams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pic>
        <p:nvPicPr>
          <p:cNvPr id="5" name="Image 0" descr="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663" y="1554480"/>
            <a:ext cx="6665410" cy="4160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909560" y="160020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9560" y="160934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646920" y="1600200"/>
            <a:ext cx="1600200" cy="347472"/>
          </a:xfrm>
          <a:prstGeom prst="roundRect">
            <a:avLst>
              <a:gd name="adj" fmla="val 21053"/>
            </a:avLst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46920" y="1609344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909560" y="2176272"/>
            <a:ext cx="1783080" cy="347472"/>
          </a:xfrm>
          <a:prstGeom prst="roundRect">
            <a:avLst>
              <a:gd name="adj" fmla="val 21053"/>
            </a:avLst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09560" y="21854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875520" y="2176272"/>
            <a:ext cx="1371600" cy="347472"/>
          </a:xfrm>
          <a:prstGeom prst="roundRect">
            <a:avLst>
              <a:gd name="adj" fmla="val 21053"/>
            </a:avLst>
          </a:prstGeom>
          <a:solidFill>
            <a:srgbClr val="C88700"/>
          </a:solidFill>
          <a:ln w="12700">
            <a:solidFill>
              <a:srgbClr val="C887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0" y="218541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909560" y="31546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 and repeatable first look before escalation.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909560" y="44348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processes the message locally, explains the evidence behind each finding, and produces a deterministic risk assessment.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WORKFLOW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Reported Message To Evidence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74520"/>
            <a:ext cx="749808" cy="74980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9456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.eml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682496" y="2103120"/>
            <a:ext cx="841248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62656" y="1874520"/>
            <a:ext cx="749808" cy="74980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2523744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indicators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86784" y="2103120"/>
            <a:ext cx="841248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66944" y="1874520"/>
            <a:ext cx="749808" cy="74980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66944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828032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rules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91072" y="2103120"/>
            <a:ext cx="841248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71232" y="1874520"/>
            <a:ext cx="749808" cy="749808"/>
          </a:xfrm>
          <a:prstGeom prst="ellipse">
            <a:avLst/>
          </a:prstGeom>
          <a:solidFill>
            <a:srgbClr val="D94343"/>
          </a:solidFill>
          <a:ln w="12700">
            <a:solidFill>
              <a:srgbClr val="D9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71232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132320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risk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95360" y="2103120"/>
            <a:ext cx="841248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75520" y="1874520"/>
            <a:ext cx="749808" cy="74980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0" y="2075688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9436608" y="2880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report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4160520"/>
            <a:ext cx="9966960" cy="114300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12700">
            <a:solidFill>
              <a:srgbClr val="BFD3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49884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evidence · grouped findings · deterministic risk · reusable reports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OUTPUT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An Analysis Result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pic>
        <p:nvPicPr>
          <p:cNvPr id="5" name="Image 0" descr="suspicious-analysi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09" y="1481328"/>
            <a:ext cx="6003117" cy="4800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59152" y="2670048"/>
            <a:ext cx="310896" cy="310896"/>
          </a:xfrm>
          <a:prstGeom prst="ellipse">
            <a:avLst/>
          </a:prstGeom>
          <a:solidFill>
            <a:srgbClr val="D9434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359152" y="268833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377440" y="5431536"/>
            <a:ext cx="310896" cy="310896"/>
          </a:xfrm>
          <a:prstGeom prst="ellipse">
            <a:avLst/>
          </a:prstGeom>
          <a:solidFill>
            <a:srgbClr val="C887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77440" y="544982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0" y="2670048"/>
            <a:ext cx="310896" cy="310896"/>
          </a:xfrm>
          <a:prstGeom prst="ellipse">
            <a:avLst/>
          </a:prstGeom>
          <a:solidFill>
            <a:srgbClr val="247A5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68833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635240" y="1481328"/>
            <a:ext cx="38862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5240" y="1481328"/>
            <a:ext cx="64008" cy="1170432"/>
          </a:xfrm>
          <a:prstGeom prst="rect">
            <a:avLst/>
          </a:prstGeom>
          <a:solidFill>
            <a:srgbClr val="D94343"/>
          </a:solidFill>
          <a:ln w="12700">
            <a:solidFill>
              <a:srgbClr val="D943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16642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Deterministic Risk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36408" y="2011680"/>
            <a:ext cx="35021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is calculated from the combined deterministic findings.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635240" y="2852928"/>
            <a:ext cx="38862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5240" y="2852928"/>
            <a:ext cx="64008" cy="1353312"/>
          </a:xfrm>
          <a:prstGeom prst="rect">
            <a:avLst/>
          </a:prstGeom>
          <a:solidFill>
            <a:srgbClr val="C88700"/>
          </a:solidFill>
          <a:ln w="12700">
            <a:solidFill>
              <a:srgbClr val="C887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36408" y="303580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Header Authentication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836408" y="3383280"/>
            <a:ext cx="35021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SPF, DKIM, and DMARC are extracted from email headers. They are technical evidence, not AI predictions.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35240" y="4407408"/>
            <a:ext cx="388620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35240" y="4407408"/>
            <a:ext cx="64008" cy="1170432"/>
          </a:xfrm>
          <a:prstGeom prst="rect">
            <a:avLst/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836408" y="459028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Report Actions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836408" y="4937760"/>
            <a:ext cx="35021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the current evidence as Markdown, JSON, or HTML.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Modular Monolith With Clear Boundaries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508760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581912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/ TypeScript / Vite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063240" y="2048256"/>
            <a:ext cx="530352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21992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29514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frontend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063240" y="2761488"/>
            <a:ext cx="530352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935224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008376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backend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063240" y="3474720"/>
            <a:ext cx="530352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3648456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3721608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use cases and ports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063240" y="4187952"/>
            <a:ext cx="530352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361688"/>
            <a:ext cx="4937760" cy="475488"/>
          </a:xfrm>
          <a:prstGeom prst="roundRect">
            <a:avLst>
              <a:gd name="adj" fmla="val 13462"/>
            </a:avLst>
          </a:prstGeom>
          <a:solidFill>
            <a:srgbClr val="C88700"/>
          </a:solidFill>
          <a:ln w="12700">
            <a:solidFill>
              <a:srgbClr val="C88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" y="4434840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rules, evidence, and risk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37960" y="15087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1508760"/>
            <a:ext cx="64008" cy="914400"/>
          </a:xfrm>
          <a:prstGeom prst="rect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39128" y="16916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39128" y="2039112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FastAPI · Pydantic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37960" y="26517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2651760"/>
            <a:ext cx="64008" cy="914400"/>
          </a:xfrm>
          <a:prstGeom prst="rect">
            <a:avLst/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39128" y="28346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739128" y="3182112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· TypeScript · Vite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37960" y="37947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37960" y="3794760"/>
            <a:ext cx="64008" cy="914400"/>
          </a:xfrm>
          <a:prstGeom prst="rect">
            <a:avLst/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39128" y="39776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739128" y="4325112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· Compose · GHCR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37960" y="4937760"/>
            <a:ext cx="46634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4937760"/>
            <a:ext cx="64008" cy="914400"/>
          </a:xfrm>
          <a:prstGeom prst="rect">
            <a:avLst/>
          </a:prstGeom>
          <a:solidFill>
            <a:srgbClr val="C88700"/>
          </a:solidFill>
          <a:ln w="12700">
            <a:solidFill>
              <a:srgbClr val="C887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39128" y="512064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39128" y="5468112"/>
            <a:ext cx="4279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· Vitest · GitHub Actions · pre-commit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AI-ASSISTED ASSESSMENT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Local Advisory Capability, Not An Automated Verdict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8483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.eml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41448" y="2148840"/>
            <a:ext cx="310896" cy="310896"/>
          </a:xfrm>
          <a:prstGeom prst="chevron">
            <a:avLst/>
          </a:prstGeom>
          <a:solidFill>
            <a:srgbClr val="B8A8F4"/>
          </a:solidFill>
          <a:ln w="12700">
            <a:solidFill>
              <a:srgbClr val="B8A8F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07792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208483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690872" y="2148840"/>
            <a:ext cx="310896" cy="310896"/>
          </a:xfrm>
          <a:prstGeom prst="chevron">
            <a:avLst/>
          </a:prstGeom>
          <a:solidFill>
            <a:srgbClr val="B8A8F4"/>
          </a:solidFill>
          <a:ln w="12700">
            <a:solidFill>
              <a:srgbClr val="B8A8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57216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208483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0296" y="2148840"/>
            <a:ext cx="310896" cy="310896"/>
          </a:xfrm>
          <a:prstGeom prst="chevron">
            <a:avLst/>
          </a:prstGeom>
          <a:solidFill>
            <a:srgbClr val="B8A8F4"/>
          </a:solidFill>
          <a:ln w="12700">
            <a:solidFill>
              <a:srgbClr val="B8A8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06640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EEE8FF"/>
          </a:solidFill>
          <a:ln w="12700">
            <a:solidFill>
              <a:srgbClr val="B8A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79792" y="208483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4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5B45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89720" y="2148840"/>
            <a:ext cx="310896" cy="310896"/>
          </a:xfrm>
          <a:prstGeom prst="chevron">
            <a:avLst/>
          </a:prstGeom>
          <a:solidFill>
            <a:srgbClr val="B8A8F4"/>
          </a:solidFill>
          <a:ln w="12700">
            <a:solidFill>
              <a:srgbClr val="B8A8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56064" y="18745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29216" y="208483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Benign / Suspicious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Inconclusive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60120" y="39776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9867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3977640"/>
            <a:ext cx="914400" cy="347472"/>
          </a:xfrm>
          <a:prstGeom prst="roundRect">
            <a:avLst>
              <a:gd name="adj" fmla="val 21053"/>
            </a:avLst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398678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397764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C88700"/>
          </a:solidFill>
          <a:ln w="12700">
            <a:solidFill>
              <a:srgbClr val="C887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3986784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DISABLED BY DEFAULT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23560" y="3977640"/>
            <a:ext cx="1463040" cy="347472"/>
          </a:xfrm>
          <a:prstGeom prst="roundRect">
            <a:avLst>
              <a:gd name="adj" fmla="val 21053"/>
            </a:avLst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39867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ADVISORY ONLY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89204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deterministic path remains authoritative for findings, evidence, risk, and CI decisions.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AI REMAINS EXPERIMENTAL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Quality Sets The Promotion Boundary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64008" cy="3611880"/>
          </a:xfrm>
          <a:prstGeom prst="rect">
            <a:avLst/>
          </a:prstGeom>
          <a:solidFill>
            <a:srgbClr val="D94343"/>
          </a:solidFill>
          <a:ln w="12700">
            <a:solidFill>
              <a:srgbClr val="D943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169164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sufficient yet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4919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data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Representative families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evaluation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false-positive and false-negative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50876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508760"/>
            <a:ext cx="64008" cy="3611880"/>
          </a:xfrm>
          <a:prstGeom prst="rect">
            <a:avLst/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9088" y="1691640"/>
            <a:ext cx="4919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decision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19088" y="2039112"/>
            <a:ext cx="49194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processing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Explicit abstention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Deterministic-first results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production verdict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promotion criteria for future 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5595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Limiting the model is a safety decision, not an absence of work.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6C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DELIVERY, IMPACT AND FUTURE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Public, Reproducible Foundation For Further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11018520" cy="0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658368" cy="65836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47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" y="2606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645920" y="1874520"/>
            <a:ext cx="1417320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691640"/>
            <a:ext cx="658368" cy="65836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847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081528" y="2606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434840" y="1874520"/>
            <a:ext cx="1417320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691640"/>
            <a:ext cx="658368" cy="658368"/>
          </a:xfrm>
          <a:prstGeom prst="ellipse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847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70448" y="2606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23760" y="1874520"/>
            <a:ext cx="1417320" cy="310896"/>
          </a:xfrm>
          <a:prstGeom prst="chevron">
            <a:avLst/>
          </a:prstGeom>
          <a:solidFill>
            <a:srgbClr val="A9BDEB"/>
          </a:solidFill>
          <a:ln w="12700">
            <a:solidFill>
              <a:srgbClr val="A9BD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691640"/>
            <a:ext cx="658368" cy="658368"/>
          </a:xfrm>
          <a:prstGeom prst="ellipse">
            <a:avLst/>
          </a:prstGeom>
          <a:solidFill>
            <a:srgbClr val="5B45B9"/>
          </a:solidFill>
          <a:ln w="12700">
            <a:solidFill>
              <a:srgbClr val="5B45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847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59368" y="260604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Safer AI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38862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886200"/>
            <a:ext cx="64008" cy="1051560"/>
          </a:xfrm>
          <a:prstGeom prst="rect">
            <a:avLst/>
          </a:prstGeom>
          <a:solidFill>
            <a:srgbClr val="2F6CE5"/>
          </a:solidFill>
          <a:ln w="12700">
            <a:solidFill>
              <a:srgbClr val="2F6C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2688" y="406908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result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2688" y="441655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functional local security tool with reproducible execution.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407408" y="38862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07408" y="3886200"/>
            <a:ext cx="64008" cy="1051560"/>
          </a:xfrm>
          <a:prstGeom prst="rect">
            <a:avLst/>
          </a:prstGeom>
          <a:solidFill>
            <a:srgbClr val="D94343"/>
          </a:solidFill>
          <a:ln w="12700">
            <a:solidFill>
              <a:srgbClr val="D9434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406908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boundary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08576" y="441655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representative authorized corpus for AI promotion.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083296" y="3886200"/>
            <a:ext cx="338328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83296" y="3886200"/>
            <a:ext cx="64008" cy="1051560"/>
          </a:xfrm>
          <a:prstGeom prst="rect">
            <a:avLst/>
          </a:prstGeom>
          <a:solidFill>
            <a:srgbClr val="247A58"/>
          </a:solidFill>
          <a:ln w="12700">
            <a:solidFill>
              <a:srgbClr val="247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84464" y="4069080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284464" y="4416552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validation with privacy-preserving data.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5650992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demonstrates a practical security tool and a responsible path toward AI-assisted triage.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66928" y="6510528"/>
            <a:ext cx="10972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E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PhishShield  |  José Nieto Alaber  | 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Big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PhishShield - Local and Explainable Phishing Email Triage</dc:title>
  <dc:subject>PhishShield presentation</dc:subject>
  <dc:creator>José Nieto Alaber</dc:creator>
  <cp:lastModifiedBy>José Nieto Alaber</cp:lastModifiedBy>
  <cp:revision>1</cp:revision>
  <dcterms:created xsi:type="dcterms:W3CDTF">2026-08-14T17:05:10Z</dcterms:created>
  <dcterms:modified xsi:type="dcterms:W3CDTF">2026-08-14T17:05:10Z</dcterms:modified>
</cp:coreProperties>
</file>